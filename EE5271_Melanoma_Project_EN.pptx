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731501" cy="960120"/>
          </a:xfrm>
          <a:prstGeom prst="rect">
            <a:avLst/>
          </a:prstGeom>
          <a:solidFill>
            <a:srgbClr val="38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372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Melanoma vs Benign Skin Lesion Classification</a:t>
            </a:r>
          </a:p>
          <a:p>
            <a:pPr algn="l">
              <a:spcBef>
                <a:spcPts val="1400"/>
              </a:spcBef>
            </a:pPr>
            <a:r>
              <a:rPr sz="2000" b="0">
                <a:solidFill>
                  <a:srgbClr val="C6D4EB"/>
                </a:solidFill>
                <a:latin typeface="Calibri"/>
              </a:rPr>
              <a:t>Comparing an end-to-end CNN with a segmentation + ABCD + tabular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0"/>
            <a:ext cx="106372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0AEC8"/>
                </a:solidFill>
                <a:latin typeface="Calibri"/>
              </a:rPr>
              <a:t>EE 5271 — Course Project · ISIC / ISBI 2016 Challenge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38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9572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Binary classification: benign vs malignant (melanoma) on dermoscopic crops.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Method 1: strong black-box baseline (transfer learning from ImageNet).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Method 2: interpretable pipeline — U-Net lesion mask → handcrafted features → LR / XGBoost.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Report AUC-ROC, accuracy, sensitivity, specificity (threshold = 0.5) on a held-out test 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Dataset &amp;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38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9572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Training: ~900 lesion-centered RGB images with image-level labels (Part 1 + training CSV).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Validation: stratified hold-out (15%) for training monitoring; fixed random seed for reproducibility.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Test: 379 images (Part 3B test) with binary labels — same split for both methods.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Segmentation supervision: expert lesion masks (Part 1 ground truth) for U-Net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 1 — End-to-End CNN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38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9572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Architecture: EfficientNet-B0, ImageNet-pretrained, fine-tuned head (1 logit).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Input: full 224×224 RGB image — no explicit lesion mask.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Optimization: AdamW + BCEWithLogitsLoss; class imbalance via weighted sampling and pos_weight.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 1 — Test Results (n = 379)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38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9572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AUC-ROC ≈ 0.81 — strong ranking of malignant vs benign.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Accuracy ≈ 0.76; sensitivity ≈ 0.65; specificity ≈ 0.78.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Serves as a high-performance black-box reference for Method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 2 — Interpretable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38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9572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Segmentation: U-Net (CNN encoder–decoder + skip connections); BCE + Dice loss.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Features: 20-D ABCD-style descriptors (shape + color statistics inside predicted mask).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Classifiers: Logistic Regression (linear, coefficient-level interpretability) and XGBoost (nonlinear baseline).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 2 — Test Results (n = 379)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38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9572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Logistic Regression: AUC ≈ 0.74; sensitivity ≈ 0.72; specificity ≈ 0.67 — recommended primary tabular model.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XGBoost: AUC ≈ 0.69; lower sensitivity (~0.44) — useful as a contrast / discussion of small-sample tree models.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Trade-off vs Method 1: lower AUC but LR captures clinically motivated features; more false positives at 0.5 threshold.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Side-by-Side Summary (Test Set)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1082009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19"/>
                <a:gridCol w="2164019"/>
                <a:gridCol w="2164019"/>
                <a:gridCol w="2164019"/>
                <a:gridCol w="2164019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3884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>
                    <a:solidFill>
                      <a:srgbClr val="3884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3884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Sensitivity</a:t>
                      </a:r>
                    </a:p>
                  </a:txBody>
                  <a:tcPr>
                    <a:solidFill>
                      <a:srgbClr val="3884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>
                    <a:solidFill>
                      <a:srgbClr val="3884D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Method 1 — EfficientNet-B0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≈ 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≈ 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≈ 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≈ 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Method 2 — ABCD + LR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≈ 0.74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≈ 0.68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≈ 0.72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≈ 0.67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Method 2 — ABCD + XGB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≈ 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≈ 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≈ 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D3748"/>
                          </a:solidFill>
                          <a:latin typeface="Calibri"/>
                        </a:rPr>
                        <a:t>≈ 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85855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Conclusions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09728" cy="5897880"/>
          </a:xfrm>
          <a:prstGeom prst="rect">
            <a:avLst/>
          </a:prstGeom>
          <a:solidFill>
            <a:srgbClr val="388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9572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Both pipelines are end-to-end reproducible: training scripts, checkpoints, and shared test evaluation.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Method 1 wins on AUC; Method 2 links predictions to explicit morphology and color descriptors.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Future work: refine U-Net (Dice/IoU), enrich ABCD, threshold tuning for clinical cost asymmetry, k-fold CV.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>
                <a:solidFill>
                  <a:srgbClr val="2D3748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